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57" r:id="rId4"/>
    <p:sldId id="267" r:id="rId5"/>
    <p:sldId id="258" r:id="rId6"/>
    <p:sldId id="260" r:id="rId7"/>
    <p:sldId id="261" r:id="rId8"/>
    <p:sldId id="262" r:id="rId9"/>
    <p:sldId id="264" r:id="rId10"/>
    <p:sldId id="268" r:id="rId11"/>
    <p:sldId id="265" r:id="rId12"/>
    <p:sldId id="269" r:id="rId13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12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2758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11" Type="http://schemas.openxmlformats.org/officeDocument/2006/relationships/image" Target="../media/image5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5.sv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mazon Web Services | Herramientas de Marketing Digital | MarTech FORUM ®">
            <a:extLst>
              <a:ext uri="{FF2B5EF4-FFF2-40B4-BE49-F238E27FC236}">
                <a16:creationId xmlns:a16="http://schemas.microsoft.com/office/drawing/2014/main" id="{70CF59DE-2D43-A155-FF55-2BB390E12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400" y="3467921"/>
            <a:ext cx="3034480" cy="3034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8880" y="-177799"/>
            <a:ext cx="3429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94287"/>
            <a:ext cx="7119511" cy="175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Principios de DevOps: Automatización, Colaboración y Monitoreo Continuo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0229F65-2F97-FBF9-76DE-F17F1FCB71CB}"/>
              </a:ext>
            </a:extLst>
          </p:cNvPr>
          <p:cNvSpPr/>
          <p:nvPr/>
        </p:nvSpPr>
        <p:spPr>
          <a:xfrm>
            <a:off x="496120" y="4571998"/>
            <a:ext cx="7119510" cy="897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Patricio Calvo Valdés | AL07097795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38DCCC7-BEBF-62AE-17F6-3CFDA90CB5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8919" y="6502401"/>
            <a:ext cx="1475081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05685FCF-51D1-6AC6-C5E1-9CB9762AF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919" y="6502401"/>
            <a:ext cx="1475081" cy="355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09F98A1-6CB5-98C1-9A4A-2618B6283A37}"/>
              </a:ext>
            </a:extLst>
          </p:cNvPr>
          <p:cNvSpPr/>
          <p:nvPr/>
        </p:nvSpPr>
        <p:spPr>
          <a:xfrm>
            <a:off x="585019" y="595734"/>
            <a:ext cx="601287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360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Objetivo SMART del Proyecto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8413CE2-B415-1A0C-B17E-35822B01F50E}"/>
              </a:ext>
            </a:extLst>
          </p:cNvPr>
          <p:cNvSpPr txBox="1"/>
          <p:nvPr/>
        </p:nvSpPr>
        <p:spPr>
          <a:xfrm>
            <a:off x="254000" y="1290718"/>
            <a:ext cx="8763000" cy="5211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Específico: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Automatizar infraestructura en AWS con 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CloudFormation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Docker, GitHub y 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CodePipeline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Medible: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Despliegue automático al hacer 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GitHub; monitoreo con 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CloudWatch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scripts Boto3 funcionales.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Alcanzable: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Usaremos AWS Cloud9, Python/Bash y recursos gratuitos dentro del Learner Lab.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Problema que resolvemos:</a:t>
            </a:r>
            <a:b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Automatizar despliegues, monitoreo y gestión de EC2/S3 sin intervención manual.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¿Cómo medimos éxito?</a:t>
            </a:r>
            <a:endParaRPr lang="es-MX" b="0" i="0" dirty="0">
              <a:solidFill>
                <a:schemeClr val="bg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Pipeline CI/CD funcional (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CodeCommit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CodeBuild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despliegue)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Scripts Python/Boto3 operando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Evidencias de ejecución en AWS (capturas, logs)</a:t>
            </a:r>
          </a:p>
        </p:txBody>
      </p:sp>
    </p:spTree>
    <p:extLst>
      <p:ext uri="{BB962C8B-B14F-4D97-AF65-F5344CB8AC3E}">
        <p14:creationId xmlns:p14="http://schemas.microsoft.com/office/powerpoint/2010/main" val="2588116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21234"/>
            <a:ext cx="601287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360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Los Principios Fundamentales de DevOps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2056805"/>
            <a:ext cx="4013895" cy="1418704"/>
          </a:xfrm>
          <a:prstGeom prst="roundRect">
            <a:avLst>
              <a:gd name="adj" fmla="val 367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s-MX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55" y="2185541"/>
            <a:ext cx="372070" cy="37207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174" y="2287786"/>
            <a:ext cx="167432" cy="1674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4855" y="268158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Cultura Colaborativa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24855" y="2949848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Dev + Ops trabajando juntos, eliminando silos organizacionales.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4633987" y="2056805"/>
            <a:ext cx="4013895" cy="1418704"/>
          </a:xfrm>
          <a:prstGeom prst="roundRect">
            <a:avLst>
              <a:gd name="adj" fmla="val 367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s-MX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723" y="2185541"/>
            <a:ext cx="372070" cy="37207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5043" y="2287786"/>
            <a:ext cx="167432" cy="1674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62723" y="268158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Automatización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4762723" y="2949848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Eliminación de procesos repetitivos para reducir errores y ganar velocidad.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496119" y="3599483"/>
            <a:ext cx="4013895" cy="1220242"/>
          </a:xfrm>
          <a:prstGeom prst="roundRect">
            <a:avLst>
              <a:gd name="adj" fmla="val 427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s-MX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55" y="3728219"/>
            <a:ext cx="372070" cy="372070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7174" y="3830464"/>
            <a:ext cx="167432" cy="16743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24855" y="4224263"/>
            <a:ext cx="157862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Medición y Monitoreo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9"/>
          <p:cNvSpPr/>
          <p:nvPr/>
        </p:nvSpPr>
        <p:spPr>
          <a:xfrm>
            <a:off x="624855" y="4492526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Visibilidad continua del sistema en tiempo real.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4633987" y="3599483"/>
            <a:ext cx="4013895" cy="1220242"/>
          </a:xfrm>
          <a:prstGeom prst="roundRect">
            <a:avLst>
              <a:gd name="adj" fmla="val 4270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s-MX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2723" y="3728219"/>
            <a:ext cx="372070" cy="372070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5043" y="3830464"/>
            <a:ext cx="167432" cy="167432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4762723" y="422426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Mejora Continua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4762723" y="4492526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Feedback loops cortos para iterar y mejorar constantemente.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682154" y="5098777"/>
            <a:ext cx="7965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"Los principios DevOps no son solo herramientas, sino cambios culturales y de proceso."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496119" y="4959251"/>
            <a:ext cx="14288" cy="477515"/>
          </a:xfrm>
          <a:prstGeom prst="rect">
            <a:avLst/>
          </a:prstGeom>
          <a:solidFill>
            <a:srgbClr val="D5D5D8"/>
          </a:solidFill>
          <a:ln/>
        </p:spPr>
        <p:txBody>
          <a:bodyPr/>
          <a:lstStyle/>
          <a:p>
            <a:endParaRPr lang="es-MX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D615DD34-1AC5-307F-1B93-818321CFB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68919" y="6502401"/>
            <a:ext cx="1475081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DBB6-9906-3AEB-AD18-E121D55E8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E43DA35-06A2-2F3A-6C7D-4304300A8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919" y="6502401"/>
            <a:ext cx="1475081" cy="355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49AC62E-EF9B-E10B-1E68-AFBB0DE1B7B3}"/>
              </a:ext>
            </a:extLst>
          </p:cNvPr>
          <p:cNvSpPr/>
          <p:nvPr/>
        </p:nvSpPr>
        <p:spPr>
          <a:xfrm>
            <a:off x="496119" y="732831"/>
            <a:ext cx="601287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3600" dirty="0" err="1">
                <a:solidFill>
                  <a:srgbClr val="CBCCCE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Investigación</a:t>
            </a:r>
            <a:r>
              <a:rPr lang="en-US" sz="360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y </a:t>
            </a:r>
            <a:r>
              <a:rPr lang="en-US" sz="3600" dirty="0" err="1">
                <a:solidFill>
                  <a:srgbClr val="CBCCCE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Análisis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7ECA122-4EE6-5B5D-4B3D-962B604D6B8D}"/>
              </a:ext>
            </a:extLst>
          </p:cNvPr>
          <p:cNvSpPr txBox="1"/>
          <p:nvPr/>
        </p:nvSpPr>
        <p:spPr>
          <a:xfrm>
            <a:off x="431800" y="2106301"/>
            <a:ext cx="8280400" cy="4260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 qué estas herramientas:</a:t>
            </a:r>
            <a:endParaRPr lang="es-MX" b="0" i="0" dirty="0">
              <a:solidFill>
                <a:schemeClr val="bg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CloudFormation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como servicio de Infraestructura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 + 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CodePipeline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(CI Integración Continua/CD Despliegue Continuo nativa)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Cloud9 (entorno integrado sin instalar local)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Boto3 para gestionar EC2/S3 desde Python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Hallazgos clave: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La integración 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CloudFormation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CodePipeline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permite despliegues automáticos al hacer 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commit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Boto3 facilita tareas de monitoreo y administración.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Limitaciones del Learner Lab: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Recursos limitados, curva de aprendizaje</a:t>
            </a:r>
          </a:p>
          <a:p>
            <a:pPr algn="l">
              <a:spcBef>
                <a:spcPts val="450"/>
              </a:spcBef>
              <a:spcAft>
                <a:spcPts val="1200"/>
              </a:spcAft>
            </a:pPr>
            <a:endParaRPr lang="es-MX" b="0" i="0" dirty="0">
              <a:solidFill>
                <a:schemeClr val="bg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809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87228"/>
            <a:ext cx="669012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80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Automatización para Reducir Tareas Manuales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2216497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Problema:</a:t>
            </a: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Las tareas manuales generan errores humanos, lentitud e inconsistencia. La solución es automatizar con las herramientas correctas.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2554486"/>
            <a:ext cx="8151763" cy="2046461"/>
          </a:xfrm>
          <a:prstGeom prst="roundRect">
            <a:avLst>
              <a:gd name="adj" fmla="val 2546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s-MX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4929" y="2638425"/>
            <a:ext cx="17851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Herramienta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662833" y="2638425"/>
            <a:ext cx="38184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Propósito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33952" y="2638425"/>
            <a:ext cx="17851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b="1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Tipo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4929" y="3000003"/>
            <a:ext cx="17851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CloudFormation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62833" y="3000003"/>
            <a:ext cx="381840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s-MX" sz="110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Infraestructura como código (IaC) – define y aprovisiona recursos (EC2, S3, VPC) con plantillas YAML/JSON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733952" y="3000003"/>
            <a:ext cx="17851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IaC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4929" y="3560043"/>
            <a:ext cx="17851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CodePipeline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62833" y="3560043"/>
            <a:ext cx="381840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s-MX" sz="110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Integración y despliegue continuo – al hacer push a GitHub, compila, prueba y despliega automáticamente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33952" y="3560043"/>
            <a:ext cx="17851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CI/CD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4929" y="4120083"/>
            <a:ext cx="17851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Boto3 (Python)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662833" y="4120083"/>
            <a:ext cx="381840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s-MX" sz="110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Automatización de tareas de gestión (listar instancias, monitoreo, scripts personalizados)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33952" y="4120083"/>
            <a:ext cx="17851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Scripting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96119" y="4740473"/>
            <a:ext cx="8151763" cy="977082"/>
          </a:xfrm>
          <a:prstGeom prst="roundRect">
            <a:avLst>
              <a:gd name="adj" fmla="val 9711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es-MX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4925020"/>
            <a:ext cx="155004" cy="12397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99071" y="4895404"/>
            <a:ext cx="7624837" cy="207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b="1" dirty="0" err="1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Ejemplo</a:t>
            </a: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100" b="1" dirty="0" err="1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práctico</a:t>
            </a: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</a:t>
            </a: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Un solo </a:t>
            </a:r>
            <a:r>
              <a:rPr lang="en-US" sz="1100" dirty="0" err="1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comando</a:t>
            </a:r>
            <a:endParaRPr lang="en-US" sz="1100" dirty="0">
              <a:solidFill>
                <a:srgbClr val="FFFFFF"/>
              </a:solidFill>
              <a:latin typeface="Times New Roman" panose="02020603050405020304" pitchFamily="18" charset="0"/>
              <a:ea typeface="Instrument Sans Medium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100" dirty="0" err="1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aws</a:t>
            </a: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cloudformation</a:t>
            </a: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deploy --template-file </a:t>
            </a:r>
            <a:r>
              <a:rPr lang="en-US" sz="1100" dirty="0" err="1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plantilla.yaml</a:t>
            </a: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--stack-name </a:t>
            </a:r>
            <a:r>
              <a:rPr lang="en-US" sz="1100" dirty="0" err="1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MiProyecto</a:t>
            </a:r>
            <a:endParaRPr lang="en-US" sz="1100" dirty="0">
              <a:solidFill>
                <a:srgbClr val="FFFFFF"/>
              </a:solidFill>
              <a:latin typeface="Times New Roman" panose="02020603050405020304" pitchFamily="18" charset="0"/>
              <a:ea typeface="Instrument Sans Medium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1550"/>
              </a:lnSpc>
              <a:buNone/>
            </a:pPr>
            <a:r>
              <a:rPr lang="en-US" sz="1100" dirty="0" err="1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levanta</a:t>
            </a: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toda</a:t>
            </a: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la </a:t>
            </a:r>
            <a:r>
              <a:rPr lang="en-US" sz="1100" dirty="0" err="1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infraestructura</a:t>
            </a: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(</a:t>
            </a:r>
            <a:r>
              <a:rPr lang="en-US" sz="1100" dirty="0" err="1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servidores</a:t>
            </a: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, </a:t>
            </a:r>
            <a:r>
              <a:rPr lang="en-US" sz="1100" dirty="0" err="1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almacenamiento</a:t>
            </a: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, red) </a:t>
            </a:r>
            <a:r>
              <a:rPr lang="en-US" sz="1100" dirty="0" err="1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eliminando</a:t>
            </a: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clicks </a:t>
            </a:r>
            <a:r>
              <a:rPr lang="en-US" sz="1100" dirty="0" err="1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manuales</a:t>
            </a: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en</a:t>
            </a: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consola</a:t>
            </a: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247357C2-1EA7-0E45-32B6-61B2DE3C5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919" y="6502401"/>
            <a:ext cx="1475081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969852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320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Medición y Monitoreo con AWS CloudWatch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81831" y="2051131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CloudWatch</a:t>
            </a:r>
            <a:r>
              <a:rPr lang="en-US" sz="12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recolecta y almacena métricas en tiempo real, con logs centralizados para depuración. Se integra con </a:t>
            </a:r>
            <a:r>
              <a:rPr lang="en-US" sz="1200" b="1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AWS X-Ray</a:t>
            </a:r>
            <a:r>
              <a:rPr lang="en-US" sz="12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para trazabilidad de solicitudes distribuidas.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96119" y="2938909"/>
            <a:ext cx="4722763" cy="743248"/>
          </a:xfrm>
          <a:prstGeom prst="roundRect">
            <a:avLst>
              <a:gd name="adj" fmla="val 9227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s-MX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31" y="2938909"/>
            <a:ext cx="57150" cy="7432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7242" y="3077170"/>
            <a:ext cx="158755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Métricas Predefinidas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77242" y="3345433"/>
            <a:ext cx="440337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CPUUtilization, MemoryUsage, Latencia, Errores HTTP.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496119" y="3806130"/>
            <a:ext cx="4722763" cy="743248"/>
          </a:xfrm>
          <a:prstGeom prst="roundRect">
            <a:avLst>
              <a:gd name="adj" fmla="val 9227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s-MX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31" y="3806130"/>
            <a:ext cx="57150" cy="7432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7242" y="3944392"/>
            <a:ext cx="176071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Métricas Personalizadas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677242" y="4212654"/>
            <a:ext cx="440337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Transacciones por segundo, usuarios activos, colas de mensajes.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496119" y="4673352"/>
            <a:ext cx="4722763" cy="941710"/>
          </a:xfrm>
          <a:prstGeom prst="roundRect">
            <a:avLst>
              <a:gd name="adj" fmla="val 7282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s-MX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31" y="4673352"/>
            <a:ext cx="57150" cy="94171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7242" y="481161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Alertas Automáticas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677242" y="5079876"/>
            <a:ext cx="440337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Tiempo de respuesta API &gt; 500ms → alerta. Tasa de errores 5xx &gt; 1% → rollback automático.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AWS CloudWatch Logs">
            <a:extLst>
              <a:ext uri="{FF2B5EF4-FFF2-40B4-BE49-F238E27FC236}">
                <a16:creationId xmlns:a16="http://schemas.microsoft.com/office/drawing/2014/main" id="{768F5F56-369A-A8B2-3276-9B81E68EB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238" y="2102531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AA68234-F2A8-119F-28B9-BDCF08F67E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4817" y="6234789"/>
            <a:ext cx="2049183" cy="5588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2194"/>
            <a:ext cx="752795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320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DevSecOps – Integrando Seguridad con AWS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603102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b="1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DevSecOps</a:t>
            </a:r>
            <a:r>
              <a:rPr lang="en-US" sz="14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= DevOps + seguridad automatizada en cada fase del ciclo de desarrollo.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2291359"/>
            <a:ext cx="186228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40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¿Qué </a:t>
            </a:r>
            <a:r>
              <a:rPr lang="en-US" sz="2400" dirty="0" err="1">
                <a:solidFill>
                  <a:srgbClr val="CBCCCE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analiza</a:t>
            </a:r>
            <a:r>
              <a:rPr lang="en-US" sz="240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AWS?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638749" y="2111500"/>
            <a:ext cx="4103191" cy="3282776"/>
          </a:xfrm>
          <a:prstGeom prst="roundRect">
            <a:avLst>
              <a:gd name="adj" fmla="val 2721"/>
            </a:avLst>
          </a:prstGeom>
          <a:solidFill>
            <a:srgbClr val="3D3D42">
              <a:alpha val="95000"/>
            </a:srgbClr>
          </a:solidFill>
          <a:ln/>
        </p:spPr>
        <p:txBody>
          <a:bodyPr/>
          <a:lstStyle/>
          <a:p>
            <a:endParaRPr lang="es-MX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62723" y="223547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Flujo Típico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62723" y="256884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723" y="2765302"/>
            <a:ext cx="3855244" cy="142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62723" y="2855864"/>
            <a:ext cx="385524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Developer hace commit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762723" y="3271317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723" y="3455418"/>
            <a:ext cx="3855244" cy="142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62723" y="3558332"/>
            <a:ext cx="385524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Pipeline </a:t>
            </a:r>
            <a:r>
              <a:rPr lang="en-US" sz="1400" dirty="0" err="1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ejecuta</a:t>
            </a:r>
            <a:r>
              <a:rPr lang="en-US" sz="14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automáticamente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762723" y="3973786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723" y="4145459"/>
            <a:ext cx="3855244" cy="142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62723" y="4260801"/>
            <a:ext cx="385524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Vulnerabilidades críticas → pipeline falla, no despliega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762723" y="4676255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723" y="4835575"/>
            <a:ext cx="3855244" cy="142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62723" y="4963270"/>
            <a:ext cx="385524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Reporte enviado al equipo de seguridad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0EAAEE7E-CA51-9B5D-5CF9-780CAFEF2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919" y="6502401"/>
            <a:ext cx="1475081" cy="355600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051F4F79-C1B4-438C-B9E1-E012B6C3BC2F}"/>
              </a:ext>
            </a:extLst>
          </p:cNvPr>
          <p:cNvSpPr txBox="1"/>
          <p:nvPr/>
        </p:nvSpPr>
        <p:spPr>
          <a:xfrm>
            <a:off x="496119" y="2763144"/>
            <a:ext cx="3721100" cy="5224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AWS </a:t>
            </a:r>
            <a:r>
              <a:rPr lang="es-MX" b="1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Config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→ Analiza configuraciones de recursos (EC2, S3, VPC) y detecta cambios inseguros.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IAM Access </a:t>
            </a:r>
            <a:r>
              <a:rPr lang="es-MX" b="1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Analyzer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→ Revisa políticas de permisos y accesos no intencionados.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1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CloudTrail</a:t>
            </a: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+ </a:t>
            </a:r>
            <a:r>
              <a:rPr lang="es-MX" b="1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CloudWatch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→ Auditan acciones de API y actividad sospechosa.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1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Trusted</a:t>
            </a: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s-MX" b="1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Advisor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→ Evalúa seguridad, rendimiento y límites de servicio.</a:t>
            </a:r>
          </a:p>
          <a:p>
            <a:pPr algn="l">
              <a:lnSpc>
                <a:spcPts val="2100"/>
              </a:lnSpc>
              <a:buNone/>
            </a:pPr>
            <a:b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s-MX" b="0" i="0" dirty="0">
              <a:solidFill>
                <a:schemeClr val="bg1">
                  <a:lumMod val="85000"/>
                </a:schemeClr>
              </a:solidFill>
              <a:effectLst/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s-MX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s-MX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1284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Reducción de Tiempos de Despliegue con AWS CodePipeline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7" y="1774403"/>
            <a:ext cx="6339185" cy="290125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9492" y="2498769"/>
            <a:ext cx="407583" cy="4075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56361" y="3986702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Despliegue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7357" y="2499533"/>
            <a:ext cx="407583" cy="40758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6456" y="3986702"/>
            <a:ext cx="11901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Pruebas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35603" y="2499533"/>
            <a:ext cx="407583" cy="40758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264702" y="3986702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Build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35697" y="2499533"/>
            <a:ext cx="407583" cy="40758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740341" y="3986702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Origen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5"/>
          <p:cNvSpPr/>
          <p:nvPr/>
        </p:nvSpPr>
        <p:spPr>
          <a:xfrm>
            <a:off x="496119" y="4877172"/>
            <a:ext cx="2613868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12min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985093" y="5441528"/>
            <a:ext cx="163591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Tiempo de Despliegue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496119" y="5709791"/>
            <a:ext cx="261386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Reducido desde 6 horas con procesos manuales.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3264991" y="4877172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10x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3796680" y="544152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Deploys Diarios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3264991" y="5709791"/>
            <a:ext cx="261394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Un equipo puede desplegar 10 veces al día sin estrés.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6033939" y="4877172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1 clic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6565627" y="544152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Rollback Instantáneo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6033939" y="5709791"/>
            <a:ext cx="261394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1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Revertir a versión anterior de forma inmediata.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930BE289-0DB7-5111-196F-783B299E3B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8919" y="6502401"/>
            <a:ext cx="1475081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70608"/>
            <a:ext cx="675612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320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Alertas en CloudWatch para Respuesta Rápida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7EB4C9DF-5B76-1F12-AA83-33343D44C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919" y="6502401"/>
            <a:ext cx="1475081" cy="355600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18EEB34D-CC8C-2914-A617-A16F1CCACC41}"/>
              </a:ext>
            </a:extLst>
          </p:cNvPr>
          <p:cNvSpPr txBox="1"/>
          <p:nvPr/>
        </p:nvSpPr>
        <p:spPr>
          <a:xfrm>
            <a:off x="705259" y="2750484"/>
            <a:ext cx="7733481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Miden 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métricas</a:t>
            </a:r>
            <a:r>
              <a:rPr lang="es-MX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 tiempo real (CPU, memoria, peticiones)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Disparan cuando se supera un umbral (</a:t>
            </a:r>
            <a:r>
              <a:rPr lang="es-MX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ej</a:t>
            </a:r>
            <a:r>
              <a:rPr lang="es-MX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CPU &gt; 80% por 5 min)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Ejecutan acciones automáticas: notificaciones (SNS), Auto </a:t>
            </a:r>
            <a:r>
              <a:rPr lang="es-MX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Scaling</a:t>
            </a:r>
            <a:r>
              <a:rPr lang="es-MX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 Lambda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Estados: OK, ALARM o INSUFFICIENT_DATA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Reducen el tiempo de recuperación (MTTR)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0CE3F-C256-2427-C83B-DA00ABEAF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FA5CD6A-A197-02CD-6D8B-9F83C751F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919" y="6502401"/>
            <a:ext cx="1475081" cy="355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028C73D-4283-6DFC-A69F-E7B86E997B8F}"/>
              </a:ext>
            </a:extLst>
          </p:cNvPr>
          <p:cNvSpPr/>
          <p:nvPr/>
        </p:nvSpPr>
        <p:spPr>
          <a:xfrm>
            <a:off x="496119" y="430414"/>
            <a:ext cx="601287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3600">
                <a:solidFill>
                  <a:srgbClr val="CBCCCE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Desarrollo y estructura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0037D5F-FDC2-F2BD-5759-6DD659078FCD}"/>
              </a:ext>
            </a:extLst>
          </p:cNvPr>
          <p:cNvSpPr txBox="1"/>
          <p:nvPr/>
        </p:nvSpPr>
        <p:spPr>
          <a:xfrm>
            <a:off x="342900" y="1200713"/>
            <a:ext cx="9144000" cy="5486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Organización en 3 fases:</a:t>
            </a:r>
            <a:endParaRPr lang="es-MX" b="0" i="0" dirty="0">
              <a:solidFill>
                <a:schemeClr val="bg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Configuración del entorno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Cloud9, GitHub, claves AWS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Desarrollo de </a:t>
            </a:r>
            <a:r>
              <a:rPr lang="es-MX" b="1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 scripts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CloudFormation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(EC2, S3), Boto3, 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endParaRPr lang="es-MX" b="0" i="0" dirty="0">
              <a:solidFill>
                <a:schemeClr val="bg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CI/CD y monitoreo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CodePipeline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CodeBuild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CloudWatch</a:t>
            </a:r>
            <a:endParaRPr lang="es-MX" b="0" i="0" dirty="0">
              <a:solidFill>
                <a:schemeClr val="bg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Etapas principales del proyecto:</a:t>
            </a:r>
            <a:endParaRPr lang="es-MX" b="0" i="0" dirty="0">
              <a:solidFill>
                <a:schemeClr val="bg1">
                  <a:lumMod val="8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Crear 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CloudFormation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 recursos básicos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Escribir script Python/Boto3 para listar/administrar instancias</a:t>
            </a:r>
          </a:p>
          <a:p>
            <a:pPr algn="l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Configurar pipeline que al hacer 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GitHub:</a:t>
            </a: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Ejecute 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CodeBuild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(pruebas + 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 Docker)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Despliegue automático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Configurar 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CloudWatch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para métricas y alarmas</a:t>
            </a:r>
          </a:p>
        </p:txBody>
      </p:sp>
    </p:spTree>
    <p:extLst>
      <p:ext uri="{BB962C8B-B14F-4D97-AF65-F5344CB8AC3E}">
        <p14:creationId xmlns:p14="http://schemas.microsoft.com/office/powerpoint/2010/main" val="1640990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33190"/>
            <a:ext cx="649939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320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Resumen, Beneficios Clave y Próximos Pasos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868760"/>
            <a:ext cx="4013895" cy="1115318"/>
          </a:xfrm>
          <a:prstGeom prst="roundRect">
            <a:avLst>
              <a:gd name="adj" fmla="val 4671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s-MX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10406" y="1883048"/>
            <a:ext cx="3985320" cy="372070"/>
          </a:xfrm>
          <a:prstGeom prst="roundRect">
            <a:avLst>
              <a:gd name="adj" fmla="val 9395"/>
            </a:avLst>
          </a:prstGeom>
          <a:solidFill>
            <a:srgbClr val="3D3D42"/>
          </a:solidFill>
          <a:ln/>
        </p:spPr>
        <p:txBody>
          <a:bodyPr/>
          <a:lstStyle/>
          <a:p>
            <a:endParaRPr lang="es-MX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0048" y="1973610"/>
            <a:ext cx="186035" cy="1860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4380" y="237909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IaC con CloudFormation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34380" y="2647355"/>
            <a:ext cx="37373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Cero clicks en consola. Infraestructura reproducible y versionada.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33987" y="1868760"/>
            <a:ext cx="4013895" cy="1115318"/>
          </a:xfrm>
          <a:prstGeom prst="roundRect">
            <a:avLst>
              <a:gd name="adj" fmla="val 4671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s-MX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648274" y="1883048"/>
            <a:ext cx="3985320" cy="372070"/>
          </a:xfrm>
          <a:prstGeom prst="roundRect">
            <a:avLst>
              <a:gd name="adj" fmla="val 9395"/>
            </a:avLst>
          </a:prstGeom>
          <a:solidFill>
            <a:srgbClr val="3D3D42"/>
          </a:solidFill>
          <a:ln/>
        </p:spPr>
        <p:txBody>
          <a:bodyPr/>
          <a:lstStyle/>
          <a:p>
            <a:endParaRPr lang="es-MX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7917" y="1973610"/>
            <a:ext cx="186035" cy="1860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72248" y="2379092"/>
            <a:ext cx="176711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CI/CD con CodePipeline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772248" y="2647355"/>
            <a:ext cx="37373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Despliegues de horas → minutos. Rollback instantáneo.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96119" y="3108052"/>
            <a:ext cx="4013895" cy="1115318"/>
          </a:xfrm>
          <a:prstGeom prst="roundRect">
            <a:avLst>
              <a:gd name="adj" fmla="val 4671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s-MX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10406" y="3122340"/>
            <a:ext cx="3985320" cy="372070"/>
          </a:xfrm>
          <a:prstGeom prst="roundRect">
            <a:avLst>
              <a:gd name="adj" fmla="val 9395"/>
            </a:avLst>
          </a:prstGeom>
          <a:solidFill>
            <a:srgbClr val="3D3D42"/>
          </a:solidFill>
          <a:ln/>
        </p:spPr>
        <p:txBody>
          <a:bodyPr/>
          <a:lstStyle/>
          <a:p>
            <a:endParaRPr lang="es-MX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0048" y="3212902"/>
            <a:ext cx="186035" cy="1860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4380" y="3618384"/>
            <a:ext cx="192226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Seguridad con AWS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34380" y="3810446"/>
            <a:ext cx="37373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s-MX" sz="10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AWS </a:t>
            </a:r>
            <a:r>
              <a:rPr lang="es-MX" sz="1000" dirty="0" err="1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Config</a:t>
            </a:r>
            <a:r>
              <a:rPr lang="es-MX" sz="10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, IAM Access </a:t>
            </a:r>
            <a:r>
              <a:rPr lang="es-MX" sz="1000" dirty="0" err="1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Analyzer</a:t>
            </a:r>
            <a:r>
              <a:rPr lang="es-MX" sz="10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y </a:t>
            </a:r>
            <a:r>
              <a:rPr lang="es-MX" sz="1000" dirty="0" err="1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CloudTrail</a:t>
            </a:r>
            <a:r>
              <a:rPr lang="es-MX" sz="10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auditan </a:t>
            </a:r>
            <a:br>
              <a:rPr lang="es-MX" sz="10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</a:br>
            <a:r>
              <a:rPr lang="es-MX" sz="10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configuraciones y accesos.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633987" y="3108052"/>
            <a:ext cx="4013895" cy="1115318"/>
          </a:xfrm>
          <a:prstGeom prst="roundRect">
            <a:avLst>
              <a:gd name="adj" fmla="val 4671"/>
            </a:avLst>
          </a:prstGeom>
          <a:solidFill>
            <a:srgbClr val="2A2A2D">
              <a:alpha val="95000"/>
            </a:srgbClr>
          </a:solidFill>
          <a:ln w="14288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s-MX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648274" y="3122340"/>
            <a:ext cx="3985320" cy="372070"/>
          </a:xfrm>
          <a:prstGeom prst="roundRect">
            <a:avLst>
              <a:gd name="adj" fmla="val 9395"/>
            </a:avLst>
          </a:prstGeom>
          <a:solidFill>
            <a:srgbClr val="3D3D42"/>
          </a:solidFill>
          <a:ln/>
        </p:spPr>
        <p:txBody>
          <a:bodyPr/>
          <a:lstStyle/>
          <a:p>
            <a:endParaRPr lang="es-MX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7917" y="3212902"/>
            <a:ext cx="186035" cy="18603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72248" y="3618384"/>
            <a:ext cx="20099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Monitoreo con CloudWatch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4772248" y="3886646"/>
            <a:ext cx="37373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50" dirty="0">
                <a:solidFill>
                  <a:srgbClr val="CFD0D8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Visibilidad en tiempo real y autoreparación automática.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496119" y="4362896"/>
            <a:ext cx="8151763" cy="725463"/>
          </a:xfrm>
          <a:prstGeom prst="roundRect">
            <a:avLst>
              <a:gd name="adj" fmla="val 7182"/>
            </a:avLst>
          </a:prstGeom>
          <a:solidFill>
            <a:srgbClr val="252528"/>
          </a:solidFill>
          <a:ln/>
        </p:spPr>
        <p:txBody>
          <a:bodyPr/>
          <a:lstStyle/>
          <a:p>
            <a:endParaRPr lang="es-MX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092" y="4547443"/>
            <a:ext cx="155004" cy="12397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99071" y="4517827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400" b="1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Conclusión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La automatización integral (IaC + CI/CD + pruebas + alertas) permite a equipos pequeños mover código a producción con la confianza y velocidad que exige el negocio moderno.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59067957-DC1A-A078-1907-C9296BFC7D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8919" y="6502401"/>
            <a:ext cx="1475081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BFAA-C33D-3C05-8EA8-582CD2A08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C351132-ED10-0074-16F4-B5DF5B1E7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919" y="6502401"/>
            <a:ext cx="1475081" cy="355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479CD5D-217C-CF61-2B58-EB3200FF32AA}"/>
              </a:ext>
            </a:extLst>
          </p:cNvPr>
          <p:cNvSpPr/>
          <p:nvPr/>
        </p:nvSpPr>
        <p:spPr>
          <a:xfrm>
            <a:off x="496119" y="1426664"/>
            <a:ext cx="601287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360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Mejoras para </a:t>
            </a:r>
            <a:r>
              <a:rPr lang="en-US" sz="3600" dirty="0" err="1">
                <a:solidFill>
                  <a:srgbClr val="CBCCCE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el</a:t>
            </a:r>
            <a:r>
              <a:rPr lang="en-US" sz="3600" dirty="0">
                <a:solidFill>
                  <a:srgbClr val="CBCCCE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Proyecto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3A3900C-0E8E-9A88-9AA4-B7760A1D1AAE}"/>
              </a:ext>
            </a:extLst>
          </p:cNvPr>
          <p:cNvSpPr txBox="1"/>
          <p:nvPr/>
        </p:nvSpPr>
        <p:spPr>
          <a:xfrm>
            <a:off x="496119" y="2459504"/>
            <a:ext cx="6248400" cy="2900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Escribir comentarios en el código</a:t>
            </a:r>
            <a:b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 que otros entiendan cada paso.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Hacer un manual</a:t>
            </a:r>
            <a:b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 los comandos básicos que usamos.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Hacer el pipeline más modular</a:t>
            </a:r>
            <a:b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Separar: </a:t>
            </a:r>
            <a:r>
              <a:rPr lang="es-MX" b="0" i="0" dirty="0" err="1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pruebas y despliegue.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b="1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Usar AWS sin los límites del Learner Lab</a:t>
            </a:r>
            <a:b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b="0" i="0" dirty="0">
                <a:solidFill>
                  <a:schemeClr val="bg1">
                    <a:lumMod val="8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Pasar a un entorno real de producción.</a:t>
            </a:r>
          </a:p>
        </p:txBody>
      </p:sp>
    </p:spTree>
    <p:extLst>
      <p:ext uri="{BB962C8B-B14F-4D97-AF65-F5344CB8AC3E}">
        <p14:creationId xmlns:p14="http://schemas.microsoft.com/office/powerpoint/2010/main" val="4052485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952</Words>
  <Application>Microsoft Office PowerPoint</Application>
  <PresentationFormat>Presentación en pantalla (4:3)</PresentationFormat>
  <Paragraphs>127</Paragraphs>
  <Slides>12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Times New Roman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PATRICIO CALVO VALDES</cp:lastModifiedBy>
  <cp:revision>9</cp:revision>
  <dcterms:created xsi:type="dcterms:W3CDTF">2026-05-06T17:37:21Z</dcterms:created>
  <dcterms:modified xsi:type="dcterms:W3CDTF">2026-05-11T05:37:28Z</dcterms:modified>
</cp:coreProperties>
</file>